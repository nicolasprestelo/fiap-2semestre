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ILVlEA3NCnhdSEqB7BLDlXRHV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898847-FBB7-4AEF-9D81-7EDCD1725EF2}">
  <a:tblStyle styleId="{1F898847-FBB7-4AEF-9D81-7EDCD1725E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3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3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7" name="Google Shape;27;p33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</a:t>
            </a:r>
            <a:fld id="{3114EFA8-DFD3-4E2A-86C1-F775D771A43C}" type="datetimeyyyy">
              <a:rPr lang="pt-BR" sz="2000" b="0" i="0" u="none" strike="noStrike" cap="none" smtClean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2026</a:t>
            </a:fld>
            <a:r>
              <a:rPr lang="pt-BR" sz="20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sz="20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6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formatter.curiousconcept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API/Window/localStorage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eveloper.mozilla.org/pt-BR/docs/Web/JavaScript/Reference/Global_Objects/JSON" TargetMode="External"/><Relationship Id="rId5" Type="http://schemas.openxmlformats.org/officeDocument/2006/relationships/hyperlink" Target="https://mdn.github.io/dom-examples/web-storage/" TargetMode="External"/><Relationship Id="rId4" Type="http://schemas.openxmlformats.org/officeDocument/2006/relationships/hyperlink" Target="https://developer.mozilla.org/pt-BR/docs/Web/API/Window/sessionStorage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Storage e Json</a:t>
            </a:r>
            <a:endParaRPr sz="4400"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 rotWithShape="1">
          <a:blip r:embed="rId3">
            <a:alphaModFix/>
          </a:blip>
          <a:srcRect l="4561"/>
          <a:stretch/>
        </p:blipFill>
        <p:spPr>
          <a:xfrm>
            <a:off x="6650355" y="0"/>
            <a:ext cx="55613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5737860" cy="133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Storage ou armazenamento</a:t>
            </a:r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786130" y="1844675"/>
            <a:ext cx="5838190" cy="413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objeto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Storage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(API de armazenamento web) permite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armazenar dados de forma local no navegador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sem a necessidade de realizar nenhuma conexão com um servidor.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Dessa forma, cada cliente (client-side) pode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preservar informações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da aplicação.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navegador nos oferece dois tipos de storage: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0FF00"/>
                </a:highlight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ocalStorage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sessionStorage.</a:t>
            </a:r>
            <a:endParaRPr sz="24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Storage</a:t>
            </a:r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1128395" y="1269365"/>
            <a:ext cx="9657080" cy="1207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ver o Storage no navegador através da aba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Application ou Aplicativo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5"/>
          <p:cNvGrpSpPr/>
          <p:nvPr/>
        </p:nvGrpSpPr>
        <p:grpSpPr>
          <a:xfrm>
            <a:off x="1487805" y="2564765"/>
            <a:ext cx="9414510" cy="4193540"/>
            <a:chOff x="2022883" y="2077252"/>
            <a:chExt cx="5098223" cy="2377646"/>
          </a:xfrm>
        </p:grpSpPr>
        <p:pic>
          <p:nvPicPr>
            <p:cNvPr id="83" name="Google Shape;83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22884" y="2077252"/>
              <a:ext cx="5098222" cy="2377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5"/>
            <p:cNvSpPr/>
            <p:nvPr/>
          </p:nvSpPr>
          <p:spPr>
            <a:xfrm>
              <a:off x="4696691" y="2077252"/>
              <a:ext cx="665100" cy="229500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2022883" y="3213324"/>
              <a:ext cx="1648500" cy="936000"/>
            </a:xfrm>
            <a:prstGeom prst="rect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Chave - valor</a:t>
            </a:r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839470" y="1772920"/>
            <a:ext cx="7465060" cy="370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informação armazenada no Storage é armazenada na forma de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chave-valor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Similar ao tratamento de objetos,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definimos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chaves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storage, nas quais armazenamos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573786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</a:t>
            </a:r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839470" y="1698625"/>
            <a:ext cx="8550275" cy="31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armazenados em localStorage (variável global preexistente)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são armazenados no navegador indefinidamente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até que se exclua os dados de navegação do browser):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 informação persiste após reiniciar o navegador ou até mesmo o sistema operacional.</a:t>
            </a:r>
            <a:endParaRPr sz="24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localStorage: setitem</a:t>
            </a:r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1056005" y="1557020"/>
            <a:ext cx="7752080" cy="834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armazenar uma informação, é utilizado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setItem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" name="Google Shape;107;p8"/>
          <p:cNvGraphicFramePr/>
          <p:nvPr/>
        </p:nvGraphicFramePr>
        <p:xfrm>
          <a:off x="1127125" y="263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27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/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localStorage: getitem</a:t>
            </a:r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839470" y="1484630"/>
            <a:ext cx="10057130" cy="155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acessar a informação armazenada em localStorage utilizando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getItem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As 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e valores de Storage são armazenadas em formato de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cadeia de caracteres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(string)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" name="Google Shape;115;p9"/>
          <p:cNvGraphicFramePr/>
          <p:nvPr/>
        </p:nvGraphicFramePr>
        <p:xfrm>
          <a:off x="911225" y="3223895"/>
          <a:ext cx="9119225" cy="22606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11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5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mensagem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tipo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(mensagem);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'Olá, Dev!'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(tipo);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'true'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(numero);  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'20'</a:t>
                      </a:r>
                      <a:endParaRPr sz="2000" u="none" strike="noStrike" cap="non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224905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</a:t>
            </a:r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721995" y="1698625"/>
            <a:ext cx="9950450" cy="298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informação armazenada em sessionStorage (variável global preexistente)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armazenada no navegador até que o usuário feche a aba. 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Só existe dentro da aba atual do navegador. Outra aba com a mesma página terá outro sessionStorage, mas é compartilhado entre iframes na aba (assumindo que tenham a mesma origem).</a:t>
            </a:r>
            <a:endParaRPr sz="24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sessionStorage: setitem</a:t>
            </a:r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893445" y="1557020"/>
            <a:ext cx="7069455" cy="55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tratamento é similar ao localStorage: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11"/>
          <p:cNvGraphicFramePr/>
          <p:nvPr/>
        </p:nvGraphicFramePr>
        <p:xfrm>
          <a:off x="983615" y="2493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48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4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selecionados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[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info@email.com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sessionStorage: getitem</a:t>
            </a:r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983615" y="1340485"/>
            <a:ext cx="9342755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acessar a informação armazenada em sessionStorage utilizando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getItem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As 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chaves e valores de Storage são armazenadas em formato de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cadeia de caracteres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(string)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12"/>
          <p:cNvGraphicFramePr/>
          <p:nvPr/>
        </p:nvGraphicFramePr>
        <p:xfrm>
          <a:off x="1055370" y="2996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882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5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lista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selecionados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split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tipo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email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(lista);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["1","2","3"];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(tipo);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//false;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(email);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//info@email.com;</a:t>
                      </a:r>
                      <a:endParaRPr sz="2000" u="none" strike="noStrike" cap="non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Percorrendo o Storage</a:t>
            </a:r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839470" y="1557020"/>
            <a:ext cx="8956040" cy="238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É possível obter todos os valores armazenados em 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localStorage ou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sessionStorage com um loop.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Mas não podemos usar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for...of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 porque não são objetos iteráveis, nem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for...in,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porque obtemos outras propriedades do objeto que não são valores armazenados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6882130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Percorrendo o Storage</a:t>
            </a:r>
            <a:endParaRPr/>
          </a:p>
        </p:txBody>
      </p:sp>
      <p:sp>
        <p:nvSpPr>
          <p:cNvPr id="151" name="Google Shape;151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1056005" y="1628775"/>
            <a:ext cx="6865620" cy="71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loop a ser usado é o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0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14"/>
          <p:cNvGraphicFramePr/>
          <p:nvPr/>
        </p:nvGraphicFramePr>
        <p:xfrm>
          <a:off x="911225" y="2432685"/>
          <a:ext cx="9673600" cy="25654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67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2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//Loop para percorrer as chaves armazenadas no objeto localStorage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length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Chave: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Valor: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(chave));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 método key() é utilizado para recuperar o nome da chave de um item específico armazenado no localStorage de um navegador</a:t>
                      </a:r>
                      <a:endParaRPr sz="2000" u="none" strike="noStrike" cap="non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7418705" cy="82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Eliminar dados do Storage</a:t>
            </a: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911860" y="1557020"/>
            <a:ext cx="9646285" cy="1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eliminar a informação armazenada em sessionStorage ou localStorage usando o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removeItem ou clear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24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15"/>
          <p:cNvGraphicFramePr/>
          <p:nvPr/>
        </p:nvGraphicFramePr>
        <p:xfrm>
          <a:off x="1127125" y="2996565"/>
          <a:ext cx="7307575" cy="28702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30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Dev!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boas-vindas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 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 toda a informação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sessionStorage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clear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//elimina toda a informação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  <p:grpSp>
        <p:nvGrpSpPr>
          <p:cNvPr id="167" name="Google Shape;167;p16"/>
          <p:cNvGrpSpPr/>
          <p:nvPr/>
        </p:nvGrpSpPr>
        <p:grpSpPr>
          <a:xfrm>
            <a:off x="1030407" y="613236"/>
            <a:ext cx="401518" cy="401518"/>
            <a:chOff x="974706" y="2467173"/>
            <a:chExt cx="738900" cy="738900"/>
          </a:xfrm>
        </p:grpSpPr>
        <p:sp>
          <p:nvSpPr>
            <p:cNvPr id="168" name="Google Shape;168;p1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6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6"/>
          <p:cNvSpPr txBox="1"/>
          <p:nvPr/>
        </p:nvSpPr>
        <p:spPr>
          <a:xfrm>
            <a:off x="983415" y="1196685"/>
            <a:ext cx="4987200" cy="84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sz="4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911225" y="2204720"/>
            <a:ext cx="9172575" cy="388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Construa uma lista de compras: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Adicione um campo para o usuário inserir um item e um botão para “Salvar”.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usuário clicar no botão “Salvar”, armazene o item no localStorage;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um botão “Visualizar” para exibir na tela todos os itens da lista de compras que estão armazenados no localStorage;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também um botão “Limpar” para apagar todos os itens armazenados no localStorage.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559560" y="525780"/>
            <a:ext cx="306705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86091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JSON - Armazenar objetos em Storage</a:t>
            </a:r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1860" y="1700530"/>
            <a:ext cx="8782685" cy="338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 quisermos armazenar a informação de um objeto em storage, é preciso considerar que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tanto a chave quanto o valor são armazenados em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strings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Qualquer outro tipo a ser armazenado, como um número ou um objeto, é convertido em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cadeia de texto automaticamente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sz="2400" b="0" i="0" u="none" strike="noStrike" cap="non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97648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JSON - Armazenar objetos em Storage</a:t>
            </a:r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11860" y="1484630"/>
            <a:ext cx="10421620" cy="19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Então, ao tentar armazenar um objeto sem uma transformação prévia,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armazenamos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[object Object]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conversão por default de objeto para string. Para armazenar a informação corretamente,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é preciso transformar o objeto em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18"/>
          <p:cNvGraphicFramePr/>
          <p:nvPr/>
        </p:nvGraphicFramePr>
        <p:xfrm>
          <a:off x="1415415" y="386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710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id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É armazenado [object Object]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BD93F9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JSON?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40105" y="1704340"/>
            <a:ext cx="10175875" cy="406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2400" b="1" i="0" u="none" strike="noStrike" cap="none">
                <a:solidFill>
                  <a:srgbClr val="3F3F3F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JavaScript Object Notation (JSON)</a:t>
            </a:r>
            <a:r>
              <a:rPr lang="pt-B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é um formato </a:t>
            </a:r>
            <a:r>
              <a:rPr lang="pt-BR" sz="2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baseado em texto simples</a:t>
            </a:r>
            <a:r>
              <a:rPr lang="pt-B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para representar dados estruturados com a sintaxe de objetos de JavaScript. É comumente utilizado para enviar e armazenar dados em aplicações web.</a:t>
            </a: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Mesmo que seja muito parecido (quase similar) à sintaxe do JavaScript, pode ser utilizado independentemente do JavaScript, e muitas áreas da programação possuem a capacidade de ler (converter; parsear) e gerar JSON.</a:t>
            </a: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JSON é uma string com um formato específico.</a:t>
            </a:r>
            <a:endParaRPr sz="2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Conversões JSON</a:t>
            </a:r>
            <a:endParaRPr/>
          </a:p>
        </p:txBody>
      </p:sp>
      <p:sp>
        <p:nvSpPr>
          <p:cNvPr id="200" name="Google Shape;200;p2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39470" y="1700530"/>
            <a:ext cx="9733280" cy="403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Quando for necessário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enviar um objeto Javascript ao servidor ou armazená-lo em storage,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será necessário convertê-lo ao formato JSON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(strings) antes de ser enviado.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isso, usamos os seguintes métodos: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stringify: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aceita um objeto JavaScript como parâmetro e retorna a forma de texto JSON equivalente.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parse: 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recebe um texto JSON como parâmetro e retorna o objeto JavaScript correspondente.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Stringify</a:t>
            </a:r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11860" y="1340485"/>
            <a:ext cx="1003935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</a:t>
            </a:r>
            <a:r>
              <a:rPr lang="pt-BR" sz="2400" b="1" i="0" u="none" strike="noStrike" cap="none">
                <a:solidFill>
                  <a:srgbClr val="3CEFAB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JSON.stringify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transformar um objeto JavaScript em uma string em formato JSON. 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p21"/>
          <p:cNvGraphicFramePr/>
          <p:nvPr/>
        </p:nvGraphicFramePr>
        <p:xfrm>
          <a:off x="1635125" y="3501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8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id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{"id":2,"produto":"Arroz"}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object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string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É armazenado {"id":2,"produto":"Arroz"}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0" name="Google Shape;21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615" y="2420620"/>
            <a:ext cx="4241800" cy="925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Parse</a:t>
            </a:r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11860" y="1484630"/>
            <a:ext cx="9232265" cy="110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 </a:t>
            </a: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JSON.parse</a:t>
            </a:r>
            <a:r>
              <a:rPr lang="pt-BR" sz="2400" b="0" i="0" u="none" strike="noStrike" cap="none">
                <a:solidFill>
                  <a:srgbClr val="3CEFAB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podemos transformar uma string em formato JSON em um objeto JavaScript. </a:t>
            </a: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1055370" y="278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930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5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{"id":2,"produto":"Arroz"}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  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string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typeof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object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.produto); 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Arroz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produto1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produto2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 </a:t>
                      </a: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2  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Armazenar Array de objetos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  <p:graphicFrame>
        <p:nvGraphicFramePr>
          <p:cNvPr id="225" name="Google Shape;225;p23"/>
          <p:cNvGraphicFramePr/>
          <p:nvPr/>
        </p:nvGraphicFramePr>
        <p:xfrm>
          <a:off x="313055" y="1580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9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8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125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Pudim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preco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chave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)};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//Armazenar produto por produto</a:t>
                      </a:r>
                      <a:endParaRPr sz="20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.id,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ou armazenar array completo</a:t>
                      </a:r>
                      <a:endParaRPr sz="20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armazenarLocal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listaProdutos</a:t>
                      </a:r>
                      <a:r>
                        <a:rPr lang="pt-BR" sz="20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0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Obter Array armazenado</a:t>
            </a:r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  <p:graphicFrame>
        <p:nvGraphicFramePr>
          <p:cNvPr id="232" name="Google Shape;232;p24"/>
          <p:cNvGraphicFramePr/>
          <p:nvPr/>
        </p:nvGraphicFramePr>
        <p:xfrm>
          <a:off x="334645" y="1412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96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 classe serve como um molde para criar objetos que representam produtos.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700" b="0" i="1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.produto.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 </a:t>
                      </a: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//Transforma em maiúsculas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700" b="0" i="1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parseFloat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i="1" u="none" strike="noStrike" cap="non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.preco); </a:t>
                      </a: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//Converte o preço para nº de ponto flutuante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700" b="0" i="1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i="1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1.21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//Calcula o preço com ICMS (21%)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//Obtemos a lista de produtos armazenados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armazenados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700" b="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listaProdutos</a:t>
                      </a:r>
                      <a:r>
                        <a:rPr lang="pt-BR" sz="17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//Iteramos os armazenados com for...of para transformar todos seus objetos no tipo produto.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armazenados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1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//Agora temos o objeto produtos e podemos usar seus métodos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7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//Armazenamos os produtos atualizados no localStorage</a:t>
                      </a:r>
                      <a:endParaRPr sz="1700" b="0" u="none" strike="noStrike" cap="non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"listaProdutos"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700" b="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700" b="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700" b="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700" b="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Recuperar dados</a:t>
            </a:r>
            <a:endParaRPr/>
          </a:p>
        </p:txBody>
      </p:sp>
      <p:sp>
        <p:nvSpPr>
          <p:cNvPr id="238" name="Google Shape;238;p2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911860" y="1700530"/>
            <a:ext cx="9128760" cy="351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muitas situações, usamos o Storage para recuperar dados relacionados à última navegação do usuário. Por exemplo, sua última sessão de login ou o último estado de seu carrinho de compras.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Para isso, temos que inicializar as variáveis do app consultando o Storage assim que for iniciado.</a:t>
            </a:r>
            <a:endParaRPr sz="24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Recuperar estados prévios</a:t>
            </a:r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graphicFrame>
        <p:nvGraphicFramePr>
          <p:cNvPr id="246" name="Google Shape;246;p26"/>
          <p:cNvGraphicFramePr/>
          <p:nvPr/>
        </p:nvGraphicFramePr>
        <p:xfrm>
          <a:off x="839470" y="1556385"/>
          <a:ext cx="10083175" cy="3856350"/>
        </p:xfrm>
        <a:graphic>
          <a:graphicData uri="http://schemas.openxmlformats.org/drawingml/2006/table">
            <a:tbl>
              <a:tblPr>
                <a:noFill/>
                <a:tableStyleId>{1F898847-FBB7-4AEF-9D81-7EDCD1725EF2}</a:tableStyleId>
              </a:tblPr>
              <a:tblGrid>
                <a:gridCol w="1008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5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usuarioEmLS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usuario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Se havia algo armazenado, o recuperamos. 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//Se não, pedimos que seja inserido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(usuarioEmLS) {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usuario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usuarioEmLS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(usuario)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usuario </a:t>
                      </a:r>
                      <a:r>
                        <a:rPr lang="pt-BR" sz="2000" u="none" strike="noStrike" cap="non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Insira seu nome de usuário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strike="noStrike" cap="non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localStorage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strike="noStrike" cap="non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setItem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usuario</a:t>
                      </a:r>
                      <a:r>
                        <a:rPr lang="pt-BR" sz="2000" u="none" strike="noStrike" cap="non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usuario);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  <p:grpSp>
        <p:nvGrpSpPr>
          <p:cNvPr id="252" name="Google Shape;252;p27"/>
          <p:cNvGrpSpPr/>
          <p:nvPr/>
        </p:nvGrpSpPr>
        <p:grpSpPr>
          <a:xfrm>
            <a:off x="1030407" y="613236"/>
            <a:ext cx="401518" cy="401518"/>
            <a:chOff x="974706" y="2467173"/>
            <a:chExt cx="738900" cy="738900"/>
          </a:xfrm>
        </p:grpSpPr>
        <p:sp>
          <p:nvSpPr>
            <p:cNvPr id="253" name="Google Shape;253;p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" name="Google Shape;254;p2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27"/>
          <p:cNvSpPr txBox="1"/>
          <p:nvPr/>
        </p:nvSpPr>
        <p:spPr>
          <a:xfrm>
            <a:off x="983415" y="1196685"/>
            <a:ext cx="4987200" cy="84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pt-BR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sz="4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1559560" y="525780"/>
            <a:ext cx="306705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911860" y="2204720"/>
            <a:ext cx="9495155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Simule o armazenamento e recuperação de produtos de um carrinho de compras de uma loja online no localStorage: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um array para armazenar os produtos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produto informe: id, nome, valor, quantidade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inicializar sua aplicação verifique se há produtos no carrinho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já existam produtos no carrinho, exiba esses produtos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 não existam, exiba a mensagem “O carrinho está vazio!”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839470" y="476885"/>
            <a:ext cx="9369425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Json: Outros pontos a considerar</a:t>
            </a:r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695960" y="1628775"/>
            <a:ext cx="4699635" cy="357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em formato JSON podem ser armazenados em arquivos externos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.json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Exemplo: dados.json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é apenas um formato de dados -  contém apenas </a:t>
            </a: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não métodos.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5638165" y="1341755"/>
            <a:ext cx="6281420" cy="461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vírgula ou dois pontos mal posicionados podem produzir um arquivo JSON que não funcione. É preciso ter cuidado ao validar qualquer dado que se queira utilizar. </a:t>
            </a:r>
            <a:r>
              <a:rPr lang="pt-BR" sz="24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https://jsonformatter.curiousconcept.com/</a:t>
            </a:r>
            <a:endParaRPr sz="2400" b="0" i="0" u="sng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idact Gothic"/>
              <a:buChar char="✓"/>
            </a:pPr>
            <a:r>
              <a:rPr lang="pt-B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diferença do código JavaScript é que as propriedades do objeto não precisam estar entre aspas, em JSON, somente as cadeias entre aspas podem ser utilizadas como propriedades.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612775" y="1670050"/>
            <a:ext cx="9199245" cy="318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800" b="0" i="0" u="sng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LocalStorage</a:t>
            </a:r>
            <a:r>
              <a:rPr lang="pt-BR"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| </a:t>
            </a:r>
            <a:r>
              <a:rPr lang="pt-BR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sz="2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800" b="0" i="0" u="sng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SessionStorage </a:t>
            </a:r>
            <a:r>
              <a:rPr lang="pt-BR"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lang="pt-BR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sz="2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800" b="0" i="0" u="sng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 de uso do Storage</a:t>
            </a:r>
            <a:r>
              <a:rPr lang="pt-BR" sz="2800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lang="pt-BR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800" b="0" i="0" u="sng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lang="pt-BR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Developer Mozilla</a:t>
            </a:r>
            <a:endParaRPr sz="2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</a:t>
            </a:r>
            <a:fld id="{0BCB70EB-90A3-4BC0-9088-6585D31A2171}" type="datetimeyyyy">
              <a:rPr lang="pt-BR" smtClean="0">
                <a:latin typeface="Arial"/>
                <a:ea typeface="Arial"/>
                <a:cs typeface="Arial"/>
                <a:sym typeface="Arial"/>
              </a:rPr>
              <a:t>2026</a:t>
            </a:fld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278" name="Google Shape;278;p30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1952</Words>
  <Application>Microsoft Office PowerPoint</Application>
  <PresentationFormat>Widescreen</PresentationFormat>
  <Paragraphs>217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Consolas</vt:lpstr>
      <vt:lpstr>Didact Gothic</vt:lpstr>
      <vt:lpstr>DM Sans</vt:lpstr>
      <vt:lpstr>Personalizar design</vt:lpstr>
      <vt:lpstr>Apresentação do PowerPoint</vt:lpstr>
      <vt:lpstr>Engenharia de Software</vt:lpstr>
      <vt:lpstr>Storage e Json</vt:lpstr>
      <vt:lpstr>Storage ou armazenamento</vt:lpstr>
      <vt:lpstr>Storage</vt:lpstr>
      <vt:lpstr>Chave - valor</vt:lpstr>
      <vt:lpstr>localStorage</vt:lpstr>
      <vt:lpstr>localStorage: setitem</vt:lpstr>
      <vt:lpstr>localStorage: getitem</vt:lpstr>
      <vt:lpstr>sessionStorage</vt:lpstr>
      <vt:lpstr>sessionStorage: setitem</vt:lpstr>
      <vt:lpstr>sessionStorage: getitem</vt:lpstr>
      <vt:lpstr>Percorrendo o Storage</vt:lpstr>
      <vt:lpstr>Percorrendo o Storage</vt:lpstr>
      <vt:lpstr>Eliminar dados do Storage</vt:lpstr>
      <vt:lpstr>Apresentação do PowerPoint</vt:lpstr>
      <vt:lpstr>JSON - Armazenar objetos em Storage</vt:lpstr>
      <vt:lpstr>JSON - Armazenar objetos em Storage</vt:lpstr>
      <vt:lpstr>O que é JSON?</vt:lpstr>
      <vt:lpstr>Conversões JSON</vt:lpstr>
      <vt:lpstr>Stringify</vt:lpstr>
      <vt:lpstr>Parse</vt:lpstr>
      <vt:lpstr>Armazenar Array de objetos</vt:lpstr>
      <vt:lpstr>Obter Array armazenado</vt:lpstr>
      <vt:lpstr>Recuperar dados</vt:lpstr>
      <vt:lpstr>Recuperar estados prévios</vt:lpstr>
      <vt:lpstr>Apresentação do PowerPoint</vt:lpstr>
      <vt:lpstr>Json: Outros pontos a considerar</vt:lpstr>
      <vt:lpstr>Referências:</vt:lpstr>
      <vt:lpstr>Copyright © 2026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Fernando Oberleitner Lima</dc:creator>
  <cp:lastModifiedBy>Lucas Sousa</cp:lastModifiedBy>
  <cp:revision>1</cp:revision>
  <dcterms:created xsi:type="dcterms:W3CDTF">2024-05-06T00:37:00Z</dcterms:created>
  <dcterms:modified xsi:type="dcterms:W3CDTF">2026-08-02T14:54:54Z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1046-12.2.0.17545</vt:lpwstr>
  </property>
</Properties>
</file>